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3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svg" ContentType="image/svg"/>
  <Override PartName="/ppt/media/image8.svg" ContentType="image/svg"/>
  <Override PartName="/ppt/media/image17.svg" ContentType="image/svg"/>
  <Override PartName="/ppt/media/image13.png" ContentType="image/png"/>
  <Override PartName="/ppt/media/image10.svg" ContentType="image/svg"/>
  <Override PartName="/ppt/media/image9.png" ContentType="image/png"/>
  <Override PartName="/ppt/media/image18.png" ContentType="image/png"/>
  <Override PartName="/ppt/media/image20.png" ContentType="image/png"/>
  <Override PartName="/ppt/media/image21.png" ContentType="image/png"/>
  <Override PartName="/ppt/media/image5.png" ContentType="image/png"/>
  <Override PartName="/ppt/media/image15.png" ContentType="image/png"/>
  <Override PartName="/ppt/media/image14.svg" ContentType="image/svg"/>
  <Override PartName="/ppt/media/image19.svg" ContentType="image/svg"/>
  <Override PartName="/ppt/media/image1.png" ContentType="image/png"/>
  <Override PartName="/ppt/media/image3.png" ContentType="image/png"/>
  <Override PartName="/ppt/media/image4.svg" ContentType="image/svg"/>
  <Override PartName="/ppt/media/image7.png" ContentType="image/png"/>
  <Override PartName="/ppt/media/image16.png" ContentType="image/png"/>
  <Override PartName="/ppt/media/image11.png" ContentType="image/png"/>
  <Override PartName="/ppt/media/image2.png" ContentType="image/png"/>
  <Override PartName="/ppt/media/image6.svg" ContentType="image/sv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17FF9F-025C-4CDE-BAD5-A16DCB3B394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Verziókezelés lényege: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Változások visszakövetése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Biztonsági mentés a fejlesztésről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Többen tudnak egyszerre dolgozni → merge lehetőség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= verziókezelő rendszer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Lokálisan fut a gépen → nem kell internet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Parancssor az alap módja a használatnak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Röviden ismertesd: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repository = a projekt verziókezelt tára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commit = pillanatkép a munkáról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branch = kísérleti ág, új funkciókhoz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Érdekesség: a legtöbb nagy techcég Git-et használ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36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+ szerver + közösségi funkciók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Pull Request = csapatmunkában javasolt módosítások jóváhagyása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Issue = hibák követése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Automatizáció: pl. tesztelés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Nem kell parancssort használni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Grafikus felület → kezdőknek ideális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GitHub fiók kell hozzá → szinkronizálás a felhőbe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Tipp: push előtt mindig pull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init → projekt elindítása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→ fájl hozzáadása „staging”-hez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commit → mentési pont létrehozása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branch → új funkció tesztelése külön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checkout → váltás verziók/ágak között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merge → ágak összeolvasztása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status → mi változott?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Email címes hitelesítés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Jelszó + felhasználónév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Ingyenes használat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600–700MB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Windows 10+ vagy macOS 12+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GitHub fiók kötelező → a szinkron alapja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zakaszfejlé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</a:t>
            </a: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szerkesztése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4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3D26F6-1236-4C86-B22A-32D623BE0842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 tartalomrész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6FF8A8-7B6E-406A-86CA-F311D0ECF3EE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Összehasonlítá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7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8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AF643B-E186-49A2-8012-4035AC8423C9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sak cí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8F46E0-EF5D-4346-A969-DD40789CDF61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r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2C479C-A592-412F-AE77-DFB6EAB2CE51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rtalomrész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</a:t>
            </a: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szerkesztése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</a:t>
            </a: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849E95-84D2-4172-BD58-C54076AFD5E8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ép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645C22-6D42-42C9-B1AB-B377060C8540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ímd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85146E-1108-406A-AA81-F1E88BBD9798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Cím és függőlege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4CA79B-5FC3-4FD5-8726-86C303A0DD29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Függőleges cím é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8C8EAE-B0EE-4C3F-BA71-24E9318CD54C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ím és tartalo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3FC0DB-B813-4988-A429-3A1E15BD1F01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5D934F-F6C8-486E-9012-4AA806DEC161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-scm.com/install/windows" TargetMode="External"/><Relationship Id="rId2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github.com/signup" TargetMode="External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desktop.github.com/download/" TargetMode="Externa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www.youtube.com/watch?v=cKv4iFvTg38" TargetMode="External"/><Relationship Id="rId2" Type="http://schemas.openxmlformats.org/officeDocument/2006/relationships/hyperlink" Target="https://notebooklm.google.com/" TargetMode="External"/><Relationship Id="rId3" Type="http://schemas.openxmlformats.org/officeDocument/2006/relationships/hyperlink" Target="https://en.wikipedia.org/wiki/Git" TargetMode="External"/><Relationship Id="rId4" Type="http://schemas.openxmlformats.org/officeDocument/2006/relationships/hyperlink" Target="https://en.wikipedia.org/wiki/GitHub" TargetMode="External"/><Relationship Id="rId5" Type="http://schemas.openxmlformats.org/officeDocument/2006/relationships/hyperlink" Target="https://graphite.com/guides/git-monorepo-best-practices-for-scalability" TargetMode="External"/><Relationship Id="rId6" Type="http://schemas.openxmlformats.org/officeDocument/2006/relationships/hyperlink" Target="https://docs.github.com/en/pull-requests/collaborating-with-pull-requests/getting-started/helping-others-review-your-changes" TargetMode="External"/><Relationship Id="rId7" Type="http://schemas.openxmlformats.org/officeDocument/2006/relationships/hyperlink" Target="https://www.reddit.com/r/git/comments/1autxuy/what_are_some_best_practices_when_dealing_with/" TargetMode="External"/><Relationship Id="rId8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88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A Git, GitHub és a verziókezelés</a:t>
            </a:r>
            <a:endParaRPr b="0" lang="en-US" sz="8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559880" y="5171040"/>
            <a:ext cx="9077400" cy="8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2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Molek Tamás Sándor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2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12.E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10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0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" dur="10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8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31080" y="639360"/>
            <a:ext cx="3427920" cy="17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6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Verziókezelés</a:t>
            </a:r>
            <a:endParaRPr b="0" lang="en-US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257364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31080" y="2807280"/>
            <a:ext cx="4022280" cy="340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 képen láthatónak megelőzése érdekében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Fájlok „Biztonsági mentése”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 valami rosszul megy, vissza lehet fordítani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Párhuzamos fejlesztés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Kép 6" descr=""/>
          <p:cNvPicPr/>
          <p:nvPr/>
        </p:nvPicPr>
        <p:blipFill>
          <a:blip r:embed="rId1"/>
          <a:stretch/>
        </p:blipFill>
        <p:spPr>
          <a:xfrm>
            <a:off x="4654440" y="1694520"/>
            <a:ext cx="6902640" cy="34678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  <p:timing>
    <p:tnLst>
      <p:par>
        <p:cTn id="16" dur="indefinite" restart="never" nodeType="tmRoot">
          <p:childTnLst>
            <p:seq>
              <p:cTn id="17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" dur="1000"/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nodeType="after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" dur="1000"/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1000"/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Git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Készítette: Linus Torvalds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Az alap Verziókezelő szoftver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GitHub “motorja”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Parancssorban használandó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 descr=""/>
          <p:cNvPicPr/>
          <p:nvPr/>
        </p:nvPicPr>
        <p:blipFill>
          <a:blip r:embed="rId1"/>
          <a:stretch/>
        </p:blipFill>
        <p:spPr>
          <a:xfrm>
            <a:off x="7456680" y="1828800"/>
            <a:ext cx="3895920" cy="390204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38080" y="556920"/>
            <a:ext cx="1051452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5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Fő Git funkciók</a:t>
            </a:r>
            <a:endParaRPr b="0" lang="en-U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Diagram2"/>
          <p:cNvGrpSpPr/>
          <p:nvPr/>
        </p:nvGrpSpPr>
        <p:grpSpPr>
          <a:xfrm>
            <a:off x="838080" y="1825560"/>
            <a:ext cx="10514520" cy="4350240"/>
            <a:chOff x="838080" y="1825560"/>
            <a:chExt cx="10514520" cy="4350240"/>
          </a:xfrm>
        </p:grpSpPr>
        <p:sp>
          <p:nvSpPr>
            <p:cNvPr id="89" name="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920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1109160" y="2104200"/>
              <a:ext cx="519840" cy="519840"/>
            </a:xfrm>
            <a:prstGeom prst="rect">
              <a:avLst/>
            </a:prstGeom>
            <a:blipFill rotWithShape="0"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2010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Commit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4493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4682160" y="2104200"/>
              <a:ext cx="519840" cy="519840"/>
            </a:xfrm>
            <a:prstGeom prst="rect">
              <a:avLst/>
            </a:prstGeom>
            <a:blipFill rotWithShape="0"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5583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Pull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8066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8255160" y="2104200"/>
              <a:ext cx="519840" cy="519840"/>
            </a:xfrm>
            <a:prstGeom prst="rect">
              <a:avLst/>
            </a:prstGeom>
            <a:blipFill rotWithShape="0"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9156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Push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920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1109160" y="3741120"/>
              <a:ext cx="519840" cy="519840"/>
            </a:xfrm>
            <a:prstGeom prst="rect">
              <a:avLst/>
            </a:prstGeom>
            <a:blipFill rotWithShape="0"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"/>
            <p:cNvSpPr/>
            <p:nvPr/>
          </p:nvSpPr>
          <p:spPr>
            <a:xfrm>
              <a:off x="2010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Sync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4493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4682160" y="3741120"/>
              <a:ext cx="519840" cy="519840"/>
            </a:xfrm>
            <a:prstGeom prst="rect">
              <a:avLst/>
            </a:prstGeom>
            <a:blipFill rotWithShape="0"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/>
            <p:nvPr/>
          </p:nvSpPr>
          <p:spPr>
            <a:xfrm>
              <a:off x="5583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Fetch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8066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"/>
            <p:cNvSpPr/>
            <p:nvPr/>
          </p:nvSpPr>
          <p:spPr>
            <a:xfrm>
              <a:off x="8255160" y="3741120"/>
              <a:ext cx="519840" cy="519840"/>
            </a:xfrm>
            <a:prstGeom prst="rect">
              <a:avLst/>
            </a:prstGeom>
            <a:blipFill rotWithShape="0"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"/>
            <p:cNvSpPr/>
            <p:nvPr/>
          </p:nvSpPr>
          <p:spPr>
            <a:xfrm>
              <a:off x="9156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Pull Request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920520" y="518940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1109160" y="5378040"/>
              <a:ext cx="519840" cy="519840"/>
            </a:xfrm>
            <a:prstGeom prst="rect">
              <a:avLst/>
            </a:prstGeom>
            <a:blipFill rotWithShape="0">
              <a:blip r:embed="rId13"/>
              <a:srcRect/>
              <a:stretch/>
            </a:blipFill>
            <a:ln>
              <a:noFill/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2010240" y="518940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0" rIns="0" tIns="0" bIns="0" anchor="ctr">
              <a:noAutofit/>
            </a:bodyPr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b="0" lang="hu-HU" sz="24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Branch</a:t>
              </a:r>
              <a:endPara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Mit ad a GitHub a Git-hez?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Csapatmunka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Kód áttekintés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Hibakövetés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Automatizáció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	</a:t>
            </a: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 Github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4" name="Diagram1"/>
          <p:cNvGrpSpPr/>
          <p:nvPr/>
        </p:nvGrpSpPr>
        <p:grpSpPr>
          <a:xfrm>
            <a:off x="838080" y="1825560"/>
            <a:ext cx="10515600" cy="4350240"/>
            <a:chOff x="838080" y="1825560"/>
            <a:chExt cx="10515600" cy="4350240"/>
          </a:xfrm>
        </p:grpSpPr>
        <p:sp>
          <p:nvSpPr>
            <p:cNvPr id="115" name="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838080" y="1827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838080" y="1827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Kód, projekt verziókezelés</a:t>
              </a:r>
              <a:r>
                <a:rPr b="0" lang="en-DE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e</a:t>
              </a:r>
              <a:endParaRPr b="0" lang="en-US" sz="3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838080" y="2552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>
              <a:off x="838080" y="255204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Hiba</a:t>
              </a:r>
              <a:r>
                <a:rPr b="0" lang="en-DE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 </a:t>
              </a: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visszajelzés</a:t>
              </a:r>
              <a:endParaRPr b="0" lang="en-US" sz="3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838080" y="3276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838080" y="3276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Csapatmunka</a:t>
              </a:r>
              <a:endParaRPr b="0" lang="en-US" sz="3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838080" y="4001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838080" y="4001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“Repository”</a:t>
              </a:r>
              <a:r>
                <a:rPr b="0" lang="en-DE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-k</a:t>
              </a: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 alapján kezelünk projekteket, fájlokat</a:t>
              </a:r>
              <a:endParaRPr b="0" lang="en-US" sz="3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838080" y="472572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838080" y="4725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</a:rPr>
                <a:t>Visual Studio (Code) integráció</a:t>
              </a:r>
              <a:r>
                <a:rPr b="0" lang="hu-HU" sz="3300" strike="noStrike" u="none">
                  <a:solidFill>
                    <a:srgbClr val="000000"/>
                  </a:solidFill>
                  <a:effectLst/>
                  <a:uFillTx/>
                  <a:latin typeface="Aptos"/>
                  <a:ea typeface="Noto Sans CJK SC"/>
                </a:rPr>
                <a:t> (</a:t>
              </a:r>
              <a:r>
                <a:rPr b="0" lang="en-DE" sz="2600" strike="noStrike" u="non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Git letöltése kötelező</a:t>
              </a:r>
              <a:r>
                <a:rPr b="0" lang="en-DE" sz="2800" strike="noStrike" u="non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)</a:t>
              </a:r>
              <a:endPara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838080" y="5450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/>
            <a:fillRef idx="0"/>
            <a:effectRef idx="0"/>
            <a:fontRef idx="minor"/>
          </p:style>
          <p:txBody>
            <a:bodyPr lIns="90000" rIns="90000" tIns="-44640" bIns="-44640" anchor="t" anchorCtr="1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838080" y="5450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1440" lIns="125640" rIns="125640" tIns="125640" bIns="125640" anchor="t">
              <a:noAutofit/>
            </a:bodyPr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28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89560" y="569880"/>
            <a:ext cx="93240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33320" y="4725720"/>
            <a:ext cx="719280" cy="71928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1" name="Kép 4" descr=""/>
          <p:cNvPicPr/>
          <p:nvPr/>
        </p:nvPicPr>
        <p:blipFill>
          <a:blip r:embed="rId1"/>
          <a:srcRect l="0" t="0" r="20688" b="0"/>
          <a:stretch/>
        </p:blipFill>
        <p:spPr>
          <a:xfrm>
            <a:off x="3286080" y="0"/>
            <a:ext cx="966852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38936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3821040" cy="189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Github Desktop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2434320"/>
            <a:ext cx="3821040" cy="374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Asztali alkalmazás a GitHubhoz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Könnyen használható felület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Origin = A GitHub szerverein lévő másolat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  <p:timing>
    <p:tnLst>
      <p:par>
        <p:cTn id="37" dur="indefinite" restart="never" nodeType="tmRoot">
          <p:childTnLst>
            <p:seq>
              <p:cTn id="38" dur="indefinite" nodeType="mainSeq"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Gyakorlat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559880" y="4307760"/>
            <a:ext cx="9077400" cy="17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Ettől a ponttól GitHub gyakorlat van.</a:t>
            </a:r>
            <a:br>
              <a:rPr sz="2800"/>
            </a:b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Akinek van tárhely a gép</a:t>
            </a:r>
            <a:r>
              <a:rPr b="0" lang="hu-HU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é</a:t>
            </a: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n, az követheti az előadást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4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45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6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7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8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9" name="Freeform: 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0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Git letöltés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Szükséges tárhely: ~400-500MB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MacOS, Linux vagy Windows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32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https://git-scm.com/install/windows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Fontos Git parancsok (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Távoli repository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)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clone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pull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push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Fontos Git parancsok (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lokális (helyi) repository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)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init – Git projekt létrehozása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add – Fájl hozzáadása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commit – Mentés készítés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branch – Ág létrehozása, felsorolása vagy törlése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checkout - Visszapörgetés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merge – Ágak összevonása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status - Állapot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7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9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1" name="Freeform: Shap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GitHub fiók létrehozás</a:t>
            </a:r>
            <a:r>
              <a:rPr b="0" lang="hu-HU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a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4383720" y="649440"/>
            <a:ext cx="3596760" cy="554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Csak akkor kell, ha még nincs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https://github.com/signup</a:t>
            </a: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Szükséges adatok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Email-cím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Jelszó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Felhasználó név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Ország/Régió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Kép 4" descr=""/>
          <p:cNvPicPr/>
          <p:nvPr/>
        </p:nvPicPr>
        <p:blipFill>
          <a:blip r:embed="rId2"/>
          <a:stretch/>
        </p:blipFill>
        <p:spPr>
          <a:xfrm>
            <a:off x="8118360" y="473760"/>
            <a:ext cx="3596760" cy="592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2" dur="indefinite" restart="never" nodeType="tmRoot">
          <p:childTnLst>
            <p:seq>
              <p:cTn id="53" dur="indefinite" nodeType="mainSeq"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" dur="500"/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" dur="500"/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" dur="500"/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" dur="500"/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00"/>
                            </p:stCondLst>
                            <p:childTnLst>
                              <p:par>
                                <p:cTn id="7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" dur="500"/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GitHub Desktop letöltés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Szükséges tárhely: ~600-700MB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macOS 12.0+ vagy Windows 10+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GitHub fiók használata </a:t>
            </a:r>
            <a:r>
              <a:rPr b="1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kötelező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https://desktop.github.com/download/</a:t>
            </a: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Források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600200"/>
            <a:ext cx="10514520" cy="480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https://www.youtube.com/watch?v=cKv4iFvTg38</a:t>
            </a: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(Köszi, Béla)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800" strike="noStrike" u="sng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https://notebooklm.google.com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https://en.wikipedia.org/wiki/Git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  <a:hlinkClick r:id="rId4"/>
              </a:rPr>
              <a:t>https://en.wikipedia.org/wiki/GitHub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  <a:hlinkClick r:id="rId5"/>
              </a:rPr>
              <a:t>https://graphite.com/guides/git-monorepo-best-practices-for-scalability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  <a:hlinkClick r:id="rId6"/>
              </a:rPr>
              <a:t>https://docs.github.com/en/pull-requests/collaborating-with-pull-requests/getting-started/helping-others-review-your-changes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  <a:hlinkClick r:id="rId7"/>
              </a:rPr>
              <a:t>https://www.reddit.com/r/git/comments/1autxuy/what_are_some_best_practices_when_dealing_with/</a:t>
            </a:r>
            <a:r>
              <a:rPr b="0" lang="en-DE" sz="1800" strike="noStrike" u="sng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800" strike="noStrike" u="sng">
                <a:solidFill>
                  <a:schemeClr val="dk1"/>
                </a:solidFill>
                <a:effectLst/>
                <a:uFillTx/>
                <a:latin typeface="Aptos"/>
              </a:rPr>
              <a:t>https://chatgpt.com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DE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Köszönöm a figyelmet!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920" cy="165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5770</TotalTime>
  <Application>LibreOffice/25.2.7.2$Linux_X86_64 LibreOffice_project/520$Build-2</Application>
  <AppVersion>15.0000</AppVersion>
  <Words>219</Words>
  <Paragraphs>51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2025-11-18T08:58:50Z</dcterms:created>
  <dc:creator>O365 felhasználó</dc:creator>
  <dc:description/>
  <dc:language>en-US</dc:language>
  <cp:lastModifiedBy/>
  <cp:lastPrinted>2025-12-03T20:37:42Z</cp:lastPrinted>
  <dcterms:modified xsi:type="dcterms:W3CDTF">2025-12-07T12:25:38Z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Szélesvásznú</vt:lpwstr>
  </property>
  <property fmtid="{D5CDD505-2E9C-101B-9397-08002B2CF9AE}" pid="3" name="Slides">
    <vt:i4>12</vt:i4>
  </property>
</Properties>
</file>